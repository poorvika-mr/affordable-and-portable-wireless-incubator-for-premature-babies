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7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8" r:id="rId11"/>
    <p:sldId id="264" r:id="rId12"/>
    <p:sldId id="265" r:id="rId13"/>
    <p:sldId id="26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43" autoAdjust="0"/>
    <p:restoredTop sz="93229" autoAdjust="0"/>
  </p:normalViewPr>
  <p:slideViewPr>
    <p:cSldViewPr snapToGrid="0">
      <p:cViewPr>
        <p:scale>
          <a:sx n="90" d="100"/>
          <a:sy n="90" d="100"/>
        </p:scale>
        <p:origin x="-403" y="-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11E5D-90C3-4D71-B99C-AE574C10FCA3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D2606-9047-4900-9BA2-5D8854500F4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11E5D-90C3-4D71-B99C-AE574C10FCA3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D2606-9047-4900-9BA2-5D8854500F4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11E5D-90C3-4D71-B99C-AE574C10FCA3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D2606-9047-4900-9BA2-5D8854500F4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11E5D-90C3-4D71-B99C-AE574C10FCA3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D2606-9047-4900-9BA2-5D8854500F4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11E5D-90C3-4D71-B99C-AE574C10FCA3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D2606-9047-4900-9BA2-5D8854500F4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11E5D-90C3-4D71-B99C-AE574C10FCA3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D2606-9047-4900-9BA2-5D8854500F4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11E5D-90C3-4D71-B99C-AE574C10FCA3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D2606-9047-4900-9BA2-5D8854500F4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11E5D-90C3-4D71-B99C-AE574C10FCA3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D2606-9047-4900-9BA2-5D8854500F4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11E5D-90C3-4D71-B99C-AE574C10FCA3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D2606-9047-4900-9BA2-5D8854500F4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11E5D-90C3-4D71-B99C-AE574C10FCA3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D2606-9047-4900-9BA2-5D8854500F4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11E5D-90C3-4D71-B99C-AE574C10FCA3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D2606-9047-4900-9BA2-5D8854500F4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811E5D-90C3-4D71-B99C-AE574C10FCA3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FD2606-9047-4900-9BA2-5D8854500F45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microsoft.com/office/2007/relationships/hdphoto" Target="../media/image2.wdp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1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423719"/>
            <a:ext cx="10778067" cy="5198017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  <a:headEnd/>
            <a:tailEnd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2466" y="1286933"/>
            <a:ext cx="11624734" cy="5757334"/>
          </a:xfrm>
          <a:noFill/>
        </p:spPr>
        <p:txBody>
          <a:bodyPr>
            <a:normAutofit/>
          </a:bodyPr>
          <a:lstStyle/>
          <a:p>
            <a:endParaRPr lang="en-GB" sz="2800" dirty="0" smtClean="0">
              <a:solidFill>
                <a:schemeClr val="tx1">
                  <a:lumMod val="95000"/>
                  <a:lumOff val="5000"/>
                </a:schemeClr>
              </a:solidFill>
              <a:latin typeface="Algerian" panose="04020705040A02060702" pitchFamily="82" charset="0"/>
            </a:endParaRPr>
          </a:p>
          <a:p>
            <a:r>
              <a:rPr lang="en-GB" sz="2800" dirty="0" smtClean="0">
                <a:solidFill>
                  <a:schemeClr val="bg1"/>
                </a:solidFill>
                <a:latin typeface="Algerian" panose="04020705040A02060702" pitchFamily="82" charset="0"/>
              </a:rPr>
              <a:t>INNOVATIVE PROJECT LAB1(23ECE139)</a:t>
            </a:r>
            <a:endParaRPr lang="en-GB" sz="2800" dirty="0" smtClean="0">
              <a:solidFill>
                <a:schemeClr val="bg1"/>
              </a:solidFill>
              <a:latin typeface="Algerian" panose="04020705040A02060702" pitchFamily="82" charset="0"/>
            </a:endParaRPr>
          </a:p>
          <a:p>
            <a:endParaRPr lang="en-GB" dirty="0" smtClean="0"/>
          </a:p>
          <a:p>
            <a:r>
              <a:rPr lang="en-GB" dirty="0" smtClean="0">
                <a:solidFill>
                  <a:srgbClr val="FFFF00"/>
                </a:solidFill>
                <a:latin typeface="Arial Rounded MT Bold" panose="020F0704030504030204" pitchFamily="34" charset="0"/>
              </a:rPr>
              <a:t>AFFORDABLE AND PORTABLE WIRELESS INCUBATOR FOR</a:t>
            </a:r>
            <a:endParaRPr lang="en-GB" dirty="0" smtClean="0">
              <a:solidFill>
                <a:srgbClr val="FFFF00"/>
              </a:solidFill>
              <a:latin typeface="Arial Rounded MT Bold" panose="020F0704030504030204" pitchFamily="34" charset="0"/>
            </a:endParaRPr>
          </a:p>
          <a:p>
            <a:r>
              <a:rPr lang="en-GB" dirty="0" smtClean="0">
                <a:solidFill>
                  <a:srgbClr val="FFFF00"/>
                </a:solidFill>
                <a:latin typeface="Arial Rounded MT Bold" panose="020F0704030504030204" pitchFamily="34" charset="0"/>
              </a:rPr>
              <a:t>PREMATURE BABIES</a:t>
            </a:r>
            <a:endParaRPr lang="en-GB" dirty="0" smtClean="0">
              <a:solidFill>
                <a:srgbClr val="FFFF00"/>
              </a:solidFill>
              <a:latin typeface="Arial Rounded MT Bold" panose="020F0704030504030204" pitchFamily="34" charset="0"/>
            </a:endParaRPr>
          </a:p>
          <a:p>
            <a:pPr algn="l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GB" dirty="0" err="1" smtClean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Shreya</a:t>
            </a:r>
            <a:r>
              <a:rPr lang="en-GB" dirty="0" smtClean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 smtClean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Mouli</a:t>
            </a:r>
            <a:r>
              <a:rPr lang="en-GB" dirty="0" smtClean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 N                     </a:t>
            </a:r>
            <a:r>
              <a:rPr lang="en-GB" dirty="0" err="1" smtClean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Sangeeta</a:t>
            </a:r>
            <a:r>
              <a:rPr lang="en-GB" dirty="0" smtClean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 </a:t>
            </a:r>
            <a:r>
              <a:rPr lang="en-GB" dirty="0" err="1" smtClean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Gatti</a:t>
            </a:r>
            <a:r>
              <a:rPr lang="en-GB" dirty="0" smtClean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</a:t>
            </a:r>
            <a:r>
              <a:rPr lang="en-GB" dirty="0" err="1" smtClean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Poorvika</a:t>
            </a:r>
            <a:r>
              <a:rPr lang="en-GB" dirty="0" smtClean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 R</a:t>
            </a:r>
            <a:endParaRPr lang="en-GB" dirty="0" smtClean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GB" dirty="0" smtClean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1BG23EC100                             1BG23EC094                                      1BG23EC078</a:t>
            </a:r>
            <a:endParaRPr lang="en-GB" dirty="0" smtClean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dirty="0" smtClean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GB" dirty="0" smtClean="0">
                <a:solidFill>
                  <a:schemeClr val="bg1">
                    <a:lumMod val="95000"/>
                  </a:schemeClr>
                </a:solidFill>
                <a:latin typeface="Bahnschrift SemiCondensed" panose="020B0502040204020203" pitchFamily="34" charset="0"/>
              </a:rPr>
              <a:t>Under the Guidance of:</a:t>
            </a:r>
            <a:endParaRPr lang="en-GB" dirty="0" smtClean="0">
              <a:solidFill>
                <a:schemeClr val="bg1">
                  <a:lumMod val="95000"/>
                </a:schemeClr>
              </a:solidFill>
              <a:latin typeface="Bahnschrift SemiCondensed" panose="020B0502040204020203" pitchFamily="34" charset="0"/>
            </a:endParaRPr>
          </a:p>
          <a:p>
            <a:r>
              <a:rPr lang="en-GB" dirty="0" smtClean="0">
                <a:solidFill>
                  <a:schemeClr val="bg1">
                    <a:lumMod val="95000"/>
                  </a:schemeClr>
                </a:solidFill>
                <a:latin typeface="Bahnschrift SemiCondensed" panose="020B0502040204020203" pitchFamily="34" charset="0"/>
              </a:rPr>
              <a:t>Prof </a:t>
            </a:r>
            <a:r>
              <a:rPr lang="en-GB" dirty="0" err="1" smtClean="0">
                <a:solidFill>
                  <a:schemeClr val="bg1">
                    <a:lumMod val="95000"/>
                  </a:schemeClr>
                </a:solidFill>
                <a:latin typeface="Bahnschrift SemiCondensed" panose="020B0502040204020203" pitchFamily="34" charset="0"/>
              </a:rPr>
              <a:t>Kiran</a:t>
            </a:r>
            <a:r>
              <a:rPr lang="en-GB" dirty="0" smtClean="0">
                <a:solidFill>
                  <a:schemeClr val="bg1">
                    <a:lumMod val="95000"/>
                  </a:schemeClr>
                </a:solidFill>
                <a:latin typeface="Bahnschrift SemiCondensed" panose="020B0502040204020203" pitchFamily="34" charset="0"/>
              </a:rPr>
              <a:t> K N</a:t>
            </a:r>
            <a:endParaRPr lang="en-GB" dirty="0" smtClean="0">
              <a:solidFill>
                <a:schemeClr val="bg1">
                  <a:lumMod val="95000"/>
                </a:schemeClr>
              </a:solidFill>
              <a:latin typeface="Bahnschrift SemiCondensed" panose="020B0502040204020203" pitchFamily="34" charset="0"/>
            </a:endParaRPr>
          </a:p>
          <a:p>
            <a:r>
              <a:rPr lang="en-GB" dirty="0" smtClean="0">
                <a:solidFill>
                  <a:schemeClr val="bg1">
                    <a:lumMod val="95000"/>
                  </a:schemeClr>
                </a:solidFill>
                <a:latin typeface="Bahnschrift SemiCondensed" panose="020B0502040204020203" pitchFamily="34" charset="0"/>
              </a:rPr>
              <a:t>Assistant Professor-ECE-</a:t>
            </a:r>
            <a:r>
              <a:rPr lang="en-GB" dirty="0" err="1" smtClean="0">
                <a:solidFill>
                  <a:schemeClr val="bg1">
                    <a:lumMod val="95000"/>
                  </a:schemeClr>
                </a:solidFill>
                <a:latin typeface="Bahnschrift SemiCondensed" panose="020B0502040204020203" pitchFamily="34" charset="0"/>
              </a:rPr>
              <a:t>Dept</a:t>
            </a:r>
            <a:endParaRPr lang="en-GB" dirty="0" smtClean="0">
              <a:solidFill>
                <a:schemeClr val="bg1">
                  <a:lumMod val="95000"/>
                </a:schemeClr>
              </a:solidFill>
              <a:latin typeface="Bahnschrift SemiCondensed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flipV="1">
            <a:off x="1253066" y="941177"/>
            <a:ext cx="9144000" cy="45719"/>
          </a:xfrm>
        </p:spPr>
        <p:txBody>
          <a:bodyPr>
            <a:normAutofit fontScale="90000"/>
          </a:bodyPr>
          <a:lstStyle/>
          <a:p>
            <a:r>
              <a:rPr lang="en-GB" dirty="0" smtClean="0"/>
              <a:t>.</a:t>
            </a:r>
            <a:br>
              <a:rPr lang="en-GB" dirty="0" smtClean="0"/>
            </a:br>
            <a:endParaRPr lang="en-IN" dirty="0"/>
          </a:p>
        </p:txBody>
      </p:sp>
      <p:pic>
        <p:nvPicPr>
          <p:cNvPr id="4" name="Picture 2" descr="Top Engineering College in Bangalore ..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400" y="137083"/>
            <a:ext cx="10473267" cy="12866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03123"/>
            <a:ext cx="10515600" cy="940695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IN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ontents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09368"/>
            <a:ext cx="10515600" cy="4967595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And Scope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 required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2267" y="101599"/>
            <a:ext cx="5909733" cy="65616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8351" y="195792"/>
            <a:ext cx="7865806" cy="938742"/>
          </a:xfrm>
        </p:spPr>
        <p:txBody>
          <a:bodyPr>
            <a:normAutofit/>
          </a:bodyPr>
          <a:lstStyle/>
          <a:p>
            <a:pPr algn="ctr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7000" y="990601"/>
            <a:ext cx="12065000" cy="5867400"/>
          </a:xfrm>
        </p:spPr>
        <p:txBody>
          <a:bodyPr>
            <a:normAutofit/>
          </a:bodyPr>
          <a:lstStyle/>
          <a:p>
            <a:pPr marL="0" indent="0" algn="r">
              <a:buNone/>
            </a:pP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</a:t>
            </a: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1.The leading cause of  child mortality globally is prematurity.</a:t>
            </a:r>
            <a:endParaRPr lang="en-IN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GB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2.High cost of keeping babies in clinical incubator.   </a:t>
            </a: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</a:t>
            </a:r>
            <a:endParaRPr lang="en-IN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3.Specialized care, particularly in regulating their body temperature.</a:t>
            </a:r>
            <a:endParaRPr lang="en-IN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4.Traditional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incubators are typically expensive and </a:t>
            </a: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bulky</a:t>
            </a: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5.A low-cost , life-saving solution for neonatal care.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401" y="1314980"/>
            <a:ext cx="4207934" cy="23597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4701" y="2878666"/>
            <a:ext cx="4236672" cy="35729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268" y="-127001"/>
            <a:ext cx="11243732" cy="6418911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  <a:headEnd/>
            <a:tailEnd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6088"/>
          </a:xfrm>
        </p:spPr>
        <p:txBody>
          <a:bodyPr>
            <a:normAutofit/>
          </a:bodyPr>
          <a:lstStyle/>
          <a:p>
            <a:pPr algn="ctr"/>
            <a:r>
              <a:rPr lang="en-IN" sz="4000" dirty="0">
                <a:solidFill>
                  <a:schemeClr val="accent4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 AND SCOPE</a:t>
            </a:r>
            <a:endParaRPr lang="en-IN" sz="4000" dirty="0">
              <a:solidFill>
                <a:schemeClr val="accent4">
                  <a:lumMod val="40000"/>
                  <a:lumOff val="6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56267"/>
            <a:ext cx="10515600" cy="4080933"/>
          </a:xfrm>
        </p:spPr>
        <p:txBody>
          <a:bodyPr/>
          <a:lstStyle/>
          <a:p>
            <a:r>
              <a:rPr lang="en-IN" sz="3200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IN" sz="320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and develop a low-cost incubator.</a:t>
            </a:r>
            <a:endParaRPr lang="en-IN" sz="3200" dirty="0">
              <a:solidFill>
                <a:schemeClr val="accent6">
                  <a:lumMod val="20000"/>
                  <a:lumOff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20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IN" sz="3200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ortable </a:t>
            </a:r>
            <a:r>
              <a:rPr lang="en-IN" sz="320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wireless </a:t>
            </a:r>
            <a:r>
              <a:rPr lang="en-IN" sz="3200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incubator.</a:t>
            </a:r>
            <a:endParaRPr lang="en-IN" sz="3200" dirty="0">
              <a:solidFill>
                <a:schemeClr val="accent6">
                  <a:lumMod val="20000"/>
                  <a:lumOff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20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Affordable , </a:t>
            </a:r>
            <a:r>
              <a:rPr lang="en-IN" sz="3200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easy-to-transport.</a:t>
            </a:r>
            <a:endParaRPr lang="en-IN" sz="3200" dirty="0">
              <a:solidFill>
                <a:schemeClr val="accent6">
                  <a:lumMod val="20000"/>
                  <a:lumOff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20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Lightweight and compact </a:t>
            </a:r>
            <a:r>
              <a:rPr lang="en-IN" sz="3200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design.</a:t>
            </a:r>
            <a:endParaRPr lang="en-IN" sz="3200" dirty="0">
              <a:solidFill>
                <a:schemeClr val="accent6">
                  <a:lumMod val="20000"/>
                  <a:lumOff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20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IN" sz="3200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ireless </a:t>
            </a:r>
            <a:r>
              <a:rPr lang="en-IN" sz="320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monitoring for </a:t>
            </a:r>
            <a:r>
              <a:rPr lang="en-IN" sz="3200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real–time </a:t>
            </a:r>
            <a:r>
              <a:rPr lang="en-IN" sz="320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tracking.</a:t>
            </a:r>
            <a:endParaRPr lang="en-IN" sz="3200" dirty="0">
              <a:solidFill>
                <a:schemeClr val="accent6">
                  <a:lumMod val="20000"/>
                  <a:lumOff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3200" dirty="0">
              <a:solidFill>
                <a:schemeClr val="accent6">
                  <a:lumMod val="20000"/>
                  <a:lumOff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7400" y="297392"/>
            <a:ext cx="10515600" cy="863907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INNOVATION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733" y="973667"/>
            <a:ext cx="11531600" cy="5340947"/>
          </a:xfrm>
          <a:solidFill>
            <a:schemeClr val="bg2"/>
          </a:solidFill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txBody>
          <a:bodyPr/>
          <a:lstStyle/>
          <a:p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Provision of continuous warmth.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consumption.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Sensors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 conditions.</a:t>
            </a: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Cost effective.</a:t>
            </a:r>
            <a:endParaRPr lang="en-GB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 swaddling or wrapping of baby needed.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5865" y="973668"/>
            <a:ext cx="4744339" cy="5401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18165" y="639763"/>
            <a:ext cx="9144000" cy="503237"/>
          </a:xfrm>
        </p:spPr>
        <p:txBody>
          <a:bodyPr>
            <a:normAutofit fontScale="90000"/>
          </a:bodyPr>
          <a:lstStyle/>
          <a:p>
            <a:pPr algn="ctr"/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AND SURVEY</a:t>
            </a:r>
            <a:endParaRPr lang="en-IN" sz="3600" dirty="0"/>
          </a:p>
        </p:txBody>
      </p:sp>
      <p:sp>
        <p:nvSpPr>
          <p:cNvPr id="15" name="Subtitle 14"/>
          <p:cNvSpPr>
            <a:spLocks noGrp="1"/>
          </p:cNvSpPr>
          <p:nvPr>
            <p:ph type="subTitle" idx="1"/>
          </p:nvPr>
        </p:nvSpPr>
        <p:spPr>
          <a:xfrm>
            <a:off x="380999" y="1210733"/>
            <a:ext cx="11328401" cy="5435600"/>
          </a:xfrm>
          <a:solidFill>
            <a:schemeClr val="bg2"/>
          </a:solidFill>
        </p:spPr>
        <p:txBody>
          <a:bodyPr/>
          <a:lstStyle/>
          <a:p>
            <a:pPr algn="l"/>
            <a:r>
              <a:rPr lang="en-GB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1.Embrace Infant Warmer:</a:t>
            </a:r>
            <a:endParaRPr lang="en-GB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Observations:</a:t>
            </a:r>
            <a:endParaRPr lang="en-GB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Affordable and reliable medical devices for emerging markets.</a:t>
            </a:r>
            <a:endParaRPr lang="en-GB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esembles small sleeping bags, light weight and transportable.</a:t>
            </a:r>
            <a:endParaRPr lang="en-GB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educing infant mortality in low resource settings.</a:t>
            </a:r>
            <a:endParaRPr lang="en-GB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Key Takeaways</a:t>
            </a:r>
            <a:endParaRPr lang="en-GB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Potential for improvement areas like monitoring, continuous 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heating.</a:t>
            </a:r>
            <a:endParaRPr lang="en-GB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 for short term temperature regulation.</a:t>
            </a:r>
            <a:endParaRPr lang="en-GB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Low tech solution  to operate</a:t>
            </a:r>
            <a:r>
              <a:rPr lang="en-GB" dirty="0" smtClean="0"/>
              <a:t>. </a:t>
            </a:r>
            <a:endParaRPr lang="en-GB" dirty="0"/>
          </a:p>
          <a:p>
            <a:pPr algn="l"/>
            <a:endParaRPr lang="en-GB" dirty="0" smtClean="0"/>
          </a:p>
          <a:p>
            <a:pPr algn="l"/>
            <a:endParaRPr lang="en-IN" dirty="0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4294967295"/>
          </p:nvPr>
        </p:nvGraphicFramePr>
        <p:xfrm>
          <a:off x="11358563" y="6977063"/>
          <a:ext cx="833120" cy="11064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/>
                <a:gridCol w="208280"/>
                <a:gridCol w="208280"/>
                <a:gridCol w="208280"/>
              </a:tblGrid>
              <a:tr h="9861973">
                <a:tc>
                  <a:txBody>
                    <a:bodyPr/>
                    <a:lstStyle/>
                    <a:p>
                      <a:r>
                        <a:rPr lang="en-GB" dirty="0" smtClean="0"/>
                        <a:t>1.</a:t>
                      </a:r>
                      <a:r>
                        <a:rPr lang="en-GB" dirty="0" smtClean="0">
                          <a:solidFill>
                            <a:schemeClr val="tx1"/>
                          </a:solidFill>
                        </a:rPr>
                        <a:t>1.Paper</a:t>
                      </a:r>
                      <a:r>
                        <a:rPr lang="en-GB" baseline="0" dirty="0" smtClean="0">
                          <a:solidFill>
                            <a:schemeClr val="tx1"/>
                          </a:solidFill>
                        </a:rPr>
                        <a:t> details</a:t>
                      </a:r>
                      <a:endParaRPr lang="en-GB" baseline="0" dirty="0" smtClean="0">
                        <a:solidFill>
                          <a:schemeClr val="tx1"/>
                        </a:solidFill>
                      </a:endParaRPr>
                    </a:p>
                    <a:p>
                      <a:endParaRPr lang="en-GB" baseline="0" dirty="0" smtClean="0">
                        <a:solidFill>
                          <a:schemeClr val="tx1"/>
                        </a:solidFill>
                      </a:endParaRPr>
                    </a:p>
                    <a:p>
                      <a:endParaRPr lang="en-GB" baseline="0" dirty="0" smtClean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GB" baseline="0" dirty="0" smtClean="0">
                          <a:solidFill>
                            <a:schemeClr val="tx1"/>
                          </a:solidFill>
                        </a:rPr>
                        <a:t>Embrace Infant Warmer</a:t>
                      </a:r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 smtClean="0">
                        <a:solidFill>
                          <a:schemeClr val="tx1"/>
                        </a:solidFill>
                      </a:endParaRPr>
                    </a:p>
                    <a:p>
                      <a:endParaRPr lang="en-GB" dirty="0" smtClean="0">
                        <a:solidFill>
                          <a:schemeClr val="tx1"/>
                        </a:solidFill>
                      </a:endParaRPr>
                    </a:p>
                    <a:p>
                      <a:endParaRPr lang="en-GB" dirty="0" smtClean="0">
                        <a:solidFill>
                          <a:schemeClr val="tx1"/>
                        </a:solidFill>
                      </a:endParaRPr>
                    </a:p>
                    <a:p>
                      <a:endParaRPr lang="en-GB" dirty="0" smtClean="0">
                        <a:solidFill>
                          <a:schemeClr val="tx1"/>
                        </a:solidFill>
                      </a:endParaRPr>
                    </a:p>
                    <a:p>
                      <a:endParaRPr lang="en-GB" dirty="0" smtClean="0">
                        <a:solidFill>
                          <a:schemeClr val="tx1"/>
                        </a:solidFill>
                      </a:endParaRPr>
                    </a:p>
                    <a:p>
                      <a:endParaRPr lang="en-GB" dirty="0" smtClean="0">
                        <a:solidFill>
                          <a:schemeClr val="tx1"/>
                        </a:solidFill>
                      </a:endParaRPr>
                    </a:p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TT</a:t>
                      </a:r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380999" y="6858000"/>
            <a:ext cx="11218333" cy="39708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83572"/>
          </a:xfrm>
        </p:spPr>
        <p:txBody>
          <a:bodyPr>
            <a:normAutofit/>
          </a:bodyPr>
          <a:lstStyle/>
          <a:p>
            <a:pPr algn="ctr"/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</a:t>
            </a:r>
            <a:endParaRPr lang="en-IN" sz="3600" dirty="0"/>
          </a:p>
        </p:txBody>
      </p:sp>
      <p:pic>
        <p:nvPicPr>
          <p:cNvPr id="4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4485" y="1249045"/>
            <a:ext cx="8141335" cy="456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5417"/>
          </a:xfrm>
        </p:spPr>
        <p:txBody>
          <a:bodyPr>
            <a:normAutofit/>
          </a:bodyPr>
          <a:lstStyle/>
          <a:p>
            <a:r>
              <a:rPr lang="en-GB" sz="3600" b="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requirements of main components</a:t>
            </a:r>
            <a:endParaRPr lang="en-IN" sz="3600" dirty="0"/>
          </a:p>
        </p:txBody>
      </p:sp>
      <p:pic>
        <p:nvPicPr>
          <p:cNvPr id="4" name="Content Placeholder 3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890" y="1140542"/>
            <a:ext cx="11137490" cy="53523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0067"/>
            <a:ext cx="10515600" cy="1032933"/>
          </a:xfrm>
        </p:spPr>
        <p:txBody>
          <a:bodyPr/>
          <a:lstStyle/>
          <a:p>
            <a:pPr algn="ctr"/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BUDGET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2600" y="905933"/>
            <a:ext cx="10871200" cy="5884334"/>
          </a:xfrm>
          <a:solidFill>
            <a:schemeClr val="bg2"/>
          </a:solidFill>
        </p:spPr>
        <p:txBody>
          <a:bodyPr>
            <a:normAutofit fontScale="92500" lnSpcReduction="2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GB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Justdial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incubator(12000/-)                   </a:t>
            </a:r>
            <a:endParaRPr lang="en-GB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GB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Jetic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 private limited(mild steel) (23000/-)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cube  advance technology(1,24,250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/-)</a:t>
            </a:r>
            <a:endParaRPr lang="en-GB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Affordable Incubator:</a:t>
            </a:r>
            <a:endParaRPr lang="en-GB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alt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ESP32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GB" dirty="0" smtClean="0">
                <a:latin typeface="Bahnschrift SemiBold Condensed" panose="020B0502040204020203" pitchFamily="34" charset="0"/>
                <a:cs typeface="Times New Roman" panose="02020603050405020304" pitchFamily="18" charset="0"/>
              </a:rPr>
              <a:t>500/-      </a:t>
            </a: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GB" sz="2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Nichrome</a:t>
            </a:r>
            <a:r>
              <a:rPr lang="en-GB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wire (5m)-</a:t>
            </a:r>
            <a:r>
              <a:rPr lang="en-US" altLang="en-GB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GB" sz="2600" dirty="0" smtClean="0">
                <a:latin typeface="Bahnschrift SemiBold Condensed" panose="020B0502040204020203" pitchFamily="34" charset="0"/>
                <a:cs typeface="Times New Roman" panose="02020603050405020304" pitchFamily="18" charset="0"/>
              </a:rPr>
              <a:t>5</a:t>
            </a:r>
            <a:r>
              <a:rPr lang="en-GB" sz="2600" dirty="0" smtClean="0">
                <a:latin typeface="Bahnschrift SemiBold Condensed" panose="020B0502040204020203" pitchFamily="34" charset="0"/>
                <a:cs typeface="Times New Roman" panose="02020603050405020304" pitchFamily="18" charset="0"/>
              </a:rPr>
              <a:t>/-      </a:t>
            </a:r>
            <a:endParaRPr lang="en-GB" sz="2600" dirty="0" smtClean="0">
              <a:latin typeface="Bahnschrift SemiBold Condensed" panose="020B0502040204020203" pitchFamily="34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GB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Thermostat-</a:t>
            </a:r>
            <a:r>
              <a:rPr lang="en-GB" sz="2600" dirty="0" smtClean="0">
                <a:latin typeface="Bahnschrift SemiBold Condensed" panose="020B0502040204020203" pitchFamily="34" charset="0"/>
                <a:cs typeface="Times New Roman" panose="02020603050405020304" pitchFamily="18" charset="0"/>
              </a:rPr>
              <a:t>145</a:t>
            </a:r>
            <a:r>
              <a:rPr lang="en-GB" sz="2600" dirty="0" smtClean="0">
                <a:latin typeface="Bahnschrift SemiBold Condensed" panose="020B0502040204020203" pitchFamily="34" charset="0"/>
                <a:cs typeface="Times New Roman" panose="02020603050405020304" pitchFamily="18" charset="0"/>
              </a:rPr>
              <a:t>/-</a:t>
            </a:r>
            <a:endParaRPr lang="en-GB" sz="2600" dirty="0" smtClean="0">
              <a:latin typeface="Bahnschrift SemiBold Condensed" panose="020B0502040204020203" pitchFamily="34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GB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LCD-</a:t>
            </a:r>
            <a:r>
              <a:rPr lang="en-US" altLang="en-GB" sz="2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GB" sz="2600" dirty="0" smtClean="0">
                <a:latin typeface="Bahnschrift SemiBold Condensed" panose="020B0502040204020203" pitchFamily="34" charset="0"/>
                <a:cs typeface="Times New Roman" panose="02020603050405020304" pitchFamily="18" charset="0"/>
              </a:rPr>
              <a:t>50/-</a:t>
            </a:r>
            <a:endParaRPr lang="en-GB" sz="2600" dirty="0" smtClean="0">
              <a:latin typeface="Bahnschrift SemiBold Condensed" panose="020B0502040204020203" pitchFamily="34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GB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Smoke sensor-</a:t>
            </a:r>
            <a:r>
              <a:rPr lang="en-GB" sz="2600" dirty="0" smtClean="0">
                <a:latin typeface="Bahnschrift Condensed" panose="020B0502040204020203" pitchFamily="34" charset="0"/>
                <a:cs typeface="Times New Roman" panose="02020603050405020304" pitchFamily="18" charset="0"/>
              </a:rPr>
              <a:t>151/-</a:t>
            </a:r>
            <a:endParaRPr lang="en-GB" sz="2600" dirty="0" smtClean="0">
              <a:latin typeface="Bahnschrift Condensed" panose="020B0502040204020203" pitchFamily="34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GB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DHT 11-</a:t>
            </a:r>
            <a:r>
              <a:rPr lang="en-GB" sz="2600" dirty="0" smtClean="0">
                <a:latin typeface="Bahnschrift SemiBold Condensed" panose="020B0502040204020203" pitchFamily="34" charset="0"/>
                <a:cs typeface="Times New Roman" panose="02020603050405020304" pitchFamily="18" charset="0"/>
              </a:rPr>
              <a:t>165/-</a:t>
            </a:r>
            <a:endParaRPr lang="en-GB" sz="2600" dirty="0" smtClean="0">
              <a:latin typeface="Bahnschrift SemiBold Condensed" panose="020B0502040204020203" pitchFamily="34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altLang="en-GB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Realy board(5v)-</a:t>
            </a:r>
            <a:r>
              <a:rPr lang="en-US" altLang="en-GB" sz="2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50/-</a:t>
            </a:r>
            <a:endParaRPr lang="en-GB" sz="26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altLang="en-GB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Buzzer</a:t>
            </a:r>
            <a:r>
              <a:rPr lang="en-US" altLang="en-GB" sz="2600" dirty="0" smtClean="0">
                <a:latin typeface="Bahnschrift SemiBold Condensed" panose="020B0502040204020203" pitchFamily="34" charset="0"/>
                <a:cs typeface="Times New Roman" panose="02020603050405020304" pitchFamily="18" charset="0"/>
              </a:rPr>
              <a:t>-15/-</a:t>
            </a:r>
            <a:endParaRPr lang="en-GB" sz="2600" dirty="0" smtClean="0">
              <a:latin typeface="Bahnschrift SemiBold Condensed" panose="020B0502040204020203" pitchFamily="34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GB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TOTAL BUDGET</a:t>
            </a:r>
            <a:r>
              <a:rPr lang="en-GB" sz="2600" dirty="0" smtClean="0">
                <a:latin typeface="Bahnschrift SemiBold Condensed" panose="020B0502040204020203" pitchFamily="34" charset="0"/>
                <a:cs typeface="Times New Roman" panose="02020603050405020304" pitchFamily="18" charset="0"/>
              </a:rPr>
              <a:t>-8</a:t>
            </a:r>
            <a:r>
              <a:rPr lang="en-US" altLang="en-GB" sz="2600" dirty="0" smtClean="0">
                <a:latin typeface="Bahnschrift SemiBold Condensed" panose="020B0502040204020203" pitchFamily="34" charset="0"/>
                <a:cs typeface="Times New Roman" panose="02020603050405020304" pitchFamily="18" charset="0"/>
              </a:rPr>
              <a:t>20</a:t>
            </a:r>
            <a:r>
              <a:rPr lang="en-GB" sz="2600" dirty="0" smtClean="0">
                <a:latin typeface="Bahnschrift SemiBold Condensed" panose="020B0502040204020203" pitchFamily="34" charset="0"/>
                <a:cs typeface="Times New Roman" panose="02020603050405020304" pitchFamily="18" charset="0"/>
              </a:rPr>
              <a:t>/-</a:t>
            </a:r>
            <a:endParaRPr lang="en-GB" sz="2600" dirty="0" smtClean="0">
              <a:latin typeface="Bahnschrift SemiBold Condensed" panose="020B0502040204020203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Bahnschrift SemiBold Condensed" panose="020B0502040204020203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8867" y="517526"/>
            <a:ext cx="10515600" cy="549274"/>
          </a:xfrm>
        </p:spPr>
        <p:txBody>
          <a:bodyPr>
            <a:noAutofit/>
          </a:bodyPr>
          <a:lstStyle/>
          <a:p>
            <a:pPr algn="ctr"/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lang="en-IN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200" y="889000"/>
            <a:ext cx="11277600" cy="5969000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endParaRPr lang="en-GB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endParaRPr lang="en-GB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GB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1.Temperature 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Humidity </a:t>
            </a:r>
            <a:r>
              <a:rPr lang="en-GB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2.Light Intensity </a:t>
            </a:r>
            <a:r>
              <a:rPr lang="en-GB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Detection</a:t>
            </a:r>
            <a:endParaRPr lang="en-GB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GB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3.Gas 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Level (Smoke) </a:t>
            </a:r>
            <a:r>
              <a:rPr lang="en-GB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Detection</a:t>
            </a:r>
            <a:endParaRPr lang="en-GB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GB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.SIDS </a:t>
            </a:r>
            <a:r>
              <a:rPr lang="en-GB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Reduction</a:t>
            </a:r>
            <a:endParaRPr lang="en-GB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GB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.Malaria </a:t>
            </a:r>
            <a:r>
              <a:rPr lang="en-GB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Prevention</a:t>
            </a:r>
            <a:endParaRPr lang="en-GB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8506" y="1312332"/>
            <a:ext cx="5270502" cy="49953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17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83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49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49" tmFilter="0, 0; 0.125,0.2665; 0.25,0.4; 0.375,0.465; 0.5,0.5;  0.625,0.535; 0.75,0.6; 0.875,0.7335; 1,1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24" tmFilter="0, 0; 0.125,0.2665; 0.25,0.4; 0.375,0.465; 0.5,0.5;  0.625,0.535; 0.75,0.6; 0.875,0.7335; 1,1">
                                          <p:stCondLst>
                                            <p:cond delay="497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62" tmFilter="0, 0; 0.125,0.2665; 0.25,0.4; 0.375,0.465; 0.5,0.5;  0.625,0.535; 0.75,0.6; 0.875,0.7335; 1,1">
                                          <p:stCondLst>
                                            <p:cond delay="621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10">
                                          <p:stCondLst>
                                            <p:cond delay="244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62" decel="50000">
                                          <p:stCondLst>
                                            <p:cond delay="254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10">
                                          <p:stCondLst>
                                            <p:cond delay="492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62" decel="50000">
                                          <p:stCondLst>
                                            <p:cond delay="502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10">
                                          <p:stCondLst>
                                            <p:cond delay="616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62" decel="50000">
                                          <p:stCondLst>
                                            <p:cond delay="625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10">
                                          <p:stCondLst>
                                            <p:cond delay="678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62" decel="50000">
                                          <p:stCondLst>
                                            <p:cond delay="688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12726"/>
            <a:ext cx="10515600" cy="828674"/>
          </a:xfrm>
        </p:spPr>
        <p:txBody>
          <a:bodyPr>
            <a:normAutofit/>
          </a:bodyPr>
          <a:lstStyle/>
          <a:p>
            <a:pPr algn="ctr"/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8867" y="1016000"/>
            <a:ext cx="10837333" cy="5571613"/>
          </a:xfrm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/>
          <a:lstStyle/>
          <a:p>
            <a:pPr marL="514350" indent="-514350" algn="l">
              <a:buAutoNum type="arabicPeriod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GB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ffordable </a:t>
            </a:r>
            <a:r>
              <a:rPr lang="en-GB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portable </a:t>
            </a:r>
            <a:r>
              <a:rPr lang="en-GB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suitable with low </a:t>
            </a:r>
            <a:r>
              <a:rPr lang="en-GB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resource settings.</a:t>
            </a:r>
            <a:endParaRPr lang="en-GB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l">
              <a:buAutoNum type="arabicPeriod"/>
            </a:pPr>
            <a:r>
              <a:rPr lang="en-GB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Maintains a stable </a:t>
            </a:r>
            <a:r>
              <a:rPr lang="en-GB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temperature.</a:t>
            </a:r>
            <a:endParaRPr lang="en-GB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l">
              <a:buAutoNum type="arabicPeriod"/>
            </a:pPr>
            <a:r>
              <a:rPr lang="en-GB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</a:t>
            </a:r>
            <a:r>
              <a:rPr lang="en-GB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system.</a:t>
            </a:r>
            <a:endParaRPr lang="en-GB" sz="2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l">
              <a:buAutoNum type="arabicPeriod"/>
            </a:pPr>
            <a:r>
              <a:rPr lang="en-GB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GB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eal </a:t>
            </a:r>
            <a:r>
              <a:rPr lang="en-GB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 updates for both mother and </a:t>
            </a:r>
            <a:r>
              <a:rPr lang="en-GB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pediatrician</a:t>
            </a:r>
            <a:r>
              <a:rPr lang="en-GB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GB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l">
              <a:buAutoNum type="arabicPeriod"/>
            </a:pPr>
            <a:r>
              <a:rPr lang="en-GB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Equipped with sensors ensuring a safe environment for the baby.</a:t>
            </a:r>
            <a:endParaRPr lang="en-GB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l">
              <a:buAutoNum type="arabicPeriod"/>
            </a:pPr>
            <a:r>
              <a:rPr lang="en-GB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Buckwheat hull mattress reduces the risk of suffocation.</a:t>
            </a:r>
            <a:endParaRPr lang="en-GB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l">
              <a:buAutoNum type="arabicPeriod"/>
            </a:pPr>
            <a:r>
              <a:rPr lang="en-GB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Insecticide treated mosquito net effectively protects the baby from malaria.</a:t>
            </a: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935"/>
            <a:ext cx="10515600" cy="778932"/>
          </a:xfrm>
        </p:spPr>
        <p:txBody>
          <a:bodyPr>
            <a:normAutofit/>
          </a:bodyPr>
          <a:lstStyle/>
          <a:p>
            <a:pPr algn="ctr"/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007533"/>
            <a:ext cx="11040533" cy="5850467"/>
          </a:xfr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pPr marL="0" indent="0" algn="l">
              <a:buNone/>
            </a:pPr>
            <a:endParaRPr lang="en-GB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GB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.Lamidi,Abd </a:t>
            </a:r>
            <a:r>
              <a:rPr lang="en-GB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Kholiq</a:t>
            </a:r>
            <a:r>
              <a:rPr lang="en-GB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Muslim Ali</a:t>
            </a:r>
            <a:endParaRPr lang="en-GB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GB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Indonesian journal of electronics, electromedical engineering and medical informatics 3(2),2021.</a:t>
            </a:r>
            <a:endParaRPr lang="en-GB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endParaRPr lang="en-GB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GB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GB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Rafa</a:t>
            </a:r>
            <a:r>
              <a:rPr lang="en-GB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Raihan </a:t>
            </a:r>
            <a:r>
              <a:rPr lang="en-GB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Fadilla</a:t>
            </a:r>
            <a:endParaRPr lang="en-GB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GB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</a:t>
            </a:r>
            <a:r>
              <a:rPr lang="en-GB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Electrical </a:t>
            </a:r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GB" sz="2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nginering</a:t>
            </a:r>
            <a:r>
              <a:rPr lang="en-GB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sz="2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Brawijaya</a:t>
            </a:r>
            <a:r>
              <a:rPr lang="en-GB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University ,</a:t>
            </a:r>
            <a:r>
              <a:rPr lang="en-GB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Malang</a:t>
            </a:r>
            <a:r>
              <a:rPr lang="en-GB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East </a:t>
            </a:r>
            <a:r>
              <a:rPr lang="en-GB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 65145,Indonesia</a:t>
            </a:r>
            <a:r>
              <a:rPr lang="en-GB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GB" sz="20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endParaRPr lang="en-GB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3.R.J.Banu,”Neonantal Healthcare Monitoring in Incubator Using IOT” ,International Journal of </a:t>
            </a:r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GB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lectrical,Electronics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and Data communication,vol.6,np.6,pp.1-6,Jun.2018.</a:t>
            </a:r>
            <a:endParaRPr lang="en-GB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endParaRPr lang="en-GB" sz="20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GB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4.M.Shaib,M.Rashid,L.Hamawy,M.Arnout,I.E.Majzoub and A.J.</a:t>
            </a:r>
            <a:r>
              <a:rPr lang="en-GB" sz="2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Zaylaa</a:t>
            </a:r>
            <a:r>
              <a:rPr lang="en-GB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,”Advanced portable preterm baby incubator,”2017 Fourth International Conference on Advances in Biomedical Engineering(ICABME),Beirut,2017,pp.1-4.</a:t>
            </a:r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0</TotalTime>
  <Words>3334</Words>
  <Application>WPS Presentation</Application>
  <PresentationFormat>Custom</PresentationFormat>
  <Paragraphs>140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6" baseType="lpstr">
      <vt:lpstr>Arial</vt:lpstr>
      <vt:lpstr>SimSun</vt:lpstr>
      <vt:lpstr>Wingdings</vt:lpstr>
      <vt:lpstr>Algerian</vt:lpstr>
      <vt:lpstr>Arial Rounded MT Bold</vt:lpstr>
      <vt:lpstr>Times New Roman</vt:lpstr>
      <vt:lpstr>Bahnschrift SemiCondensed</vt:lpstr>
      <vt:lpstr>Bahnschrift SemiBold Condensed</vt:lpstr>
      <vt:lpstr>Bahnschrift Condensed</vt:lpstr>
      <vt:lpstr>Calibri</vt:lpstr>
      <vt:lpstr>Calibri Light</vt:lpstr>
      <vt:lpstr>Microsoft YaHei</vt:lpstr>
      <vt:lpstr>Arial Unicode MS</vt:lpstr>
      <vt:lpstr>Office Theme</vt:lpstr>
      <vt:lpstr>. </vt:lpstr>
      <vt:lpstr>Contents</vt:lpstr>
      <vt:lpstr>INTRODUCTION</vt:lpstr>
      <vt:lpstr>OBJECTIVE AND SCOPE</vt:lpstr>
      <vt:lpstr>INNOVATION</vt:lpstr>
      <vt:lpstr>LITERATURE AND SURVEY</vt:lpstr>
      <vt:lpstr>Block diagram</vt:lpstr>
      <vt:lpstr>Design requirements of main components</vt:lpstr>
      <vt:lpstr>BUDGET</vt:lpstr>
      <vt:lpstr>Implementation</vt:lpstr>
      <vt:lpstr>Conclusion</vt:lpstr>
      <vt:lpstr>References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Monisha M R</dc:creator>
  <cp:lastModifiedBy>Dell</cp:lastModifiedBy>
  <cp:revision>52</cp:revision>
  <dcterms:created xsi:type="dcterms:W3CDTF">2024-09-29T18:24:00Z</dcterms:created>
  <dcterms:modified xsi:type="dcterms:W3CDTF">2024-12-13T05:17:35Z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37356B5BCC3B43C8A96F259B5569BC6E_12</vt:lpwstr>
  </property>
  <property fmtid="{D5CDD505-2E9C-101B-9397-08002B2CF9AE}" pid="3" name="KSOProductBuildVer">
    <vt:lpwstr>1033-12.2.0.19307</vt:lpwstr>
  </property>
</Properties>
</file>